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154786c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154786c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d1cc5d882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d1cc5d882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d1cc5d882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d1cc5d882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Cambria"/>
                <a:ea typeface="Cambria"/>
                <a:cs typeface="Cambria"/>
                <a:sym typeface="Cambria"/>
              </a:rPr>
              <a:t>From rotation matrix (tells how much each variable contributes to each PC): for each of principal components one through nine, the top contributors were points, pass attempts, year, turnovers, penalty yards committed, yards per play on offense, games, first downs by penalty, and fumbles lost respectively</a:t>
            </a:r>
            <a:endParaRPr sz="1200">
              <a:latin typeface="Cambria"/>
              <a:ea typeface="Cambria"/>
              <a:cs typeface="Cambria"/>
              <a:sym typeface="Cambri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d1cc5d882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d1cc5d88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d154786c6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d154786c6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w3schools.com/html/tryit.asp?filename=tryhtml_default"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w3schools.com/css/tryit.asp?filename=trycss_default"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txBox="1"/>
          <p:nvPr>
            <p:ph type="ctrTitle"/>
          </p:nvPr>
        </p:nvSpPr>
        <p:spPr>
          <a:xfrm>
            <a:off x="729450" y="1322450"/>
            <a:ext cx="7688100" cy="16647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500"/>
              </a:spcBef>
              <a:spcAft>
                <a:spcPts val="0"/>
              </a:spcAft>
              <a:buSzPts val="1600"/>
              <a:buNone/>
              <a:defRPr sz="1600"/>
            </a:lvl1pPr>
            <a:lvl2pPr lvl="1" algn="l">
              <a:lnSpc>
                <a:spcPct val="100000"/>
              </a:lnSpc>
              <a:spcBef>
                <a:spcPts val="400"/>
              </a:spcBef>
              <a:spcAft>
                <a:spcPts val="0"/>
              </a:spcAft>
              <a:buSzPts val="1600"/>
              <a:buNone/>
              <a:defRPr sz="1600"/>
            </a:lvl2pPr>
            <a:lvl3pPr lvl="2" algn="l">
              <a:lnSpc>
                <a:spcPct val="100000"/>
              </a:lnSpc>
              <a:spcBef>
                <a:spcPts val="400"/>
              </a:spcBef>
              <a:spcAft>
                <a:spcPts val="0"/>
              </a:spcAft>
              <a:buSzPts val="1600"/>
              <a:buNone/>
              <a:defRPr sz="1600"/>
            </a:lvl3pPr>
            <a:lvl4pPr lvl="3" algn="l">
              <a:lnSpc>
                <a:spcPct val="100000"/>
              </a:lnSpc>
              <a:spcBef>
                <a:spcPts val="300"/>
              </a:spcBef>
              <a:spcAft>
                <a:spcPts val="0"/>
              </a:spcAft>
              <a:buSzPts val="1600"/>
              <a:buNone/>
              <a:defRPr sz="1600"/>
            </a:lvl4pPr>
            <a:lvl5pPr lvl="4" algn="l">
              <a:lnSpc>
                <a:spcPct val="100000"/>
              </a:lnSpc>
              <a:spcBef>
                <a:spcPts val="300"/>
              </a:spcBef>
              <a:spcAft>
                <a:spcPts val="0"/>
              </a:spcAft>
              <a:buSzPts val="1600"/>
              <a:buNone/>
              <a:defRPr sz="1600"/>
            </a:lvl5pPr>
            <a:lvl6pPr lvl="5" algn="l">
              <a:lnSpc>
                <a:spcPct val="100000"/>
              </a:lnSpc>
              <a:spcBef>
                <a:spcPts val="300"/>
              </a:spcBef>
              <a:spcAft>
                <a:spcPts val="0"/>
              </a:spcAft>
              <a:buSzPts val="1600"/>
              <a:buNone/>
              <a:defRPr sz="1600"/>
            </a:lvl6pPr>
            <a:lvl7pPr lvl="6" algn="l">
              <a:lnSpc>
                <a:spcPct val="100000"/>
              </a:lnSpc>
              <a:spcBef>
                <a:spcPts val="300"/>
              </a:spcBef>
              <a:spcAft>
                <a:spcPts val="0"/>
              </a:spcAft>
              <a:buSzPts val="1600"/>
              <a:buNone/>
              <a:defRPr sz="1600"/>
            </a:lvl7pPr>
            <a:lvl8pPr lvl="7" algn="l">
              <a:lnSpc>
                <a:spcPct val="100000"/>
              </a:lnSpc>
              <a:spcBef>
                <a:spcPts val="300"/>
              </a:spcBef>
              <a:spcAft>
                <a:spcPts val="0"/>
              </a:spcAft>
              <a:buSzPts val="1600"/>
              <a:buNone/>
              <a:defRPr sz="1600"/>
            </a:lvl8pPr>
            <a:lvl9pPr lvl="8" algn="l">
              <a:lnSpc>
                <a:spcPct val="100000"/>
              </a:lnSpc>
              <a:spcBef>
                <a:spcPts val="30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stone Information">
  <p:cSld name="TITLE_AND_TWO_COLUMNS_2">
    <p:spTree>
      <p:nvGrpSpPr>
        <p:cNvPr id="17" name="Shape 17"/>
        <p:cNvGrpSpPr/>
        <p:nvPr/>
      </p:nvGrpSpPr>
      <p:grpSpPr>
        <a:xfrm>
          <a:off x="0" y="0"/>
          <a:ext cx="0" cy="0"/>
          <a:chOff x="0" y="0"/>
          <a:chExt cx="0" cy="0"/>
        </a:xfrm>
      </p:grpSpPr>
      <p:sp>
        <p:nvSpPr>
          <p:cNvPr id="18" name="Google Shape;18;p3"/>
          <p:cNvSpPr txBox="1"/>
          <p:nvPr>
            <p:ph type="title"/>
          </p:nvPr>
        </p:nvSpPr>
        <p:spPr>
          <a:xfrm>
            <a:off x="311700" y="173736"/>
            <a:ext cx="85206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 type="body"/>
          </p:nvPr>
        </p:nvSpPr>
        <p:spPr>
          <a:xfrm>
            <a:off x="311700" y="1371600"/>
            <a:ext cx="3999900" cy="31548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20" name="Google Shape;20;p3"/>
          <p:cNvSpPr txBox="1"/>
          <p:nvPr>
            <p:ph idx="2" type="body"/>
          </p:nvPr>
        </p:nvSpPr>
        <p:spPr>
          <a:xfrm>
            <a:off x="4832400" y="1371600"/>
            <a:ext cx="3999900" cy="13551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21" name="Google Shape;21;p3"/>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3" type="body"/>
          </p:nvPr>
        </p:nvSpPr>
        <p:spPr>
          <a:xfrm>
            <a:off x="4832400" y="3276600"/>
            <a:ext cx="3999900" cy="13551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463375" y="177625"/>
            <a:ext cx="8229600" cy="10974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Clr>
                <a:srgbClr val="004B8D"/>
              </a:buClr>
              <a:buSzPts val="2800"/>
              <a:buFont typeface="Cambria"/>
              <a:buNone/>
              <a:defRPr sz="2800">
                <a:solidFill>
                  <a:srgbClr val="004B8D"/>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 type="body"/>
          </p:nvPr>
        </p:nvSpPr>
        <p:spPr>
          <a:xfrm>
            <a:off x="548640" y="1243400"/>
            <a:ext cx="8229600" cy="33513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6" name="Google Shape;26;p4"/>
          <p:cNvSpPr txBox="1"/>
          <p:nvPr>
            <p:ph idx="10" type="dt"/>
          </p:nvPr>
        </p:nvSpPr>
        <p:spPr>
          <a:xfrm>
            <a:off x="825500" y="4767265"/>
            <a:ext cx="21336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4"/>
          <p:cNvSpPr txBox="1"/>
          <p:nvPr>
            <p:ph idx="11" type="ftr"/>
          </p:nvPr>
        </p:nvSpPr>
        <p:spPr>
          <a:xfrm>
            <a:off x="3124200" y="4767265"/>
            <a:ext cx="28956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4"/>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5"/>
          <p:cNvSpPr txBox="1"/>
          <p:nvPr>
            <p:ph type="title"/>
          </p:nvPr>
        </p:nvSpPr>
        <p:spPr>
          <a:xfrm>
            <a:off x="310896" y="173736"/>
            <a:ext cx="85221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rgbClr val="004B8D"/>
              </a:buClr>
              <a:buSzPts val="3300"/>
              <a:buFont typeface="Cambria"/>
              <a:buNone/>
              <a:defRPr>
                <a:solidFill>
                  <a:srgbClr val="004B8D"/>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0" type="dt"/>
          </p:nvPr>
        </p:nvSpPr>
        <p:spPr>
          <a:xfrm>
            <a:off x="723900" y="4769708"/>
            <a:ext cx="21336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5"/>
          <p:cNvSpPr txBox="1"/>
          <p:nvPr>
            <p:ph idx="11" type="ftr"/>
          </p:nvPr>
        </p:nvSpPr>
        <p:spPr>
          <a:xfrm>
            <a:off x="3124200" y="4767265"/>
            <a:ext cx="28956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 name="Google Shape;33;p5"/>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 name="Shape 34"/>
        <p:cNvGrpSpPr/>
        <p:nvPr/>
      </p:nvGrpSpPr>
      <p:grpSpPr>
        <a:xfrm>
          <a:off x="0" y="0"/>
          <a:ext cx="0" cy="0"/>
          <a:chOff x="0" y="0"/>
          <a:chExt cx="0" cy="0"/>
        </a:xfrm>
      </p:grpSpPr>
      <p:sp>
        <p:nvSpPr>
          <p:cNvPr id="35" name="Google Shape;35;p6"/>
          <p:cNvSpPr txBox="1"/>
          <p:nvPr>
            <p:ph type="title"/>
          </p:nvPr>
        </p:nvSpPr>
        <p:spPr>
          <a:xfrm>
            <a:off x="310896" y="173736"/>
            <a:ext cx="85221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 name="Google Shape;36;p6"/>
          <p:cNvSpPr txBox="1"/>
          <p:nvPr>
            <p:ph idx="1" type="body"/>
          </p:nvPr>
        </p:nvSpPr>
        <p:spPr>
          <a:xfrm>
            <a:off x="311700" y="1369254"/>
            <a:ext cx="8520600" cy="3154800"/>
          </a:xfrm>
          <a:prstGeom prst="rect">
            <a:avLst/>
          </a:prstGeom>
          <a:noFill/>
          <a:ln>
            <a:noFill/>
          </a:ln>
        </p:spPr>
        <p:txBody>
          <a:bodyPr anchorCtr="0" anchor="t" bIns="34275" lIns="68575" spcFirstLastPara="1" rIns="68575" wrap="square" tIns="34275">
            <a:normAutofit/>
          </a:bodyPr>
          <a:lstStyle>
            <a:lvl1pPr indent="-368300" lvl="0" marL="457200" algn="l">
              <a:lnSpc>
                <a:spcPct val="100000"/>
              </a:lnSpc>
              <a:spcBef>
                <a:spcPts val="500"/>
              </a:spcBef>
              <a:spcAft>
                <a:spcPts val="0"/>
              </a:spcAft>
              <a:buSzPts val="2200"/>
              <a:buChar char="•"/>
              <a:defRPr sz="2200"/>
            </a:lvl1pPr>
            <a:lvl2pPr indent="-349250" lvl="1" marL="914400" algn="l">
              <a:lnSpc>
                <a:spcPct val="100000"/>
              </a:lnSpc>
              <a:spcBef>
                <a:spcPts val="400"/>
              </a:spcBef>
              <a:spcAft>
                <a:spcPts val="0"/>
              </a:spcAft>
              <a:buSzPts val="1900"/>
              <a:buChar char="–"/>
              <a:defRPr sz="1900"/>
            </a:lvl2pPr>
            <a:lvl3pPr indent="-330200" lvl="2" marL="1371600" algn="l">
              <a:lnSpc>
                <a:spcPct val="100000"/>
              </a:lnSpc>
              <a:spcBef>
                <a:spcPts val="400"/>
              </a:spcBef>
              <a:spcAft>
                <a:spcPts val="0"/>
              </a:spcAft>
              <a:buSzPts val="1600"/>
              <a:buChar char="•"/>
              <a:defRPr sz="1600"/>
            </a:lvl3pPr>
            <a:lvl4pPr indent="-311150" lvl="3" marL="1828800" algn="l">
              <a:lnSpc>
                <a:spcPct val="100000"/>
              </a:lnSpc>
              <a:spcBef>
                <a:spcPts val="300"/>
              </a:spcBef>
              <a:spcAft>
                <a:spcPts val="0"/>
              </a:spcAft>
              <a:buSzPts val="1300"/>
              <a:buChar char="–"/>
              <a:defRPr sz="1300"/>
            </a:lvl4pPr>
            <a:lvl5pPr indent="-311150" lvl="4" marL="2286000" algn="l">
              <a:lnSpc>
                <a:spcPct val="100000"/>
              </a:lnSpc>
              <a:spcBef>
                <a:spcPts val="300"/>
              </a:spcBef>
              <a:spcAft>
                <a:spcPts val="0"/>
              </a:spcAft>
              <a:buSzPts val="1300"/>
              <a:buChar char="»"/>
              <a:defRPr sz="1300"/>
            </a:lvl5pPr>
            <a:lvl6pPr indent="-311150" lvl="5" marL="2743200" algn="l">
              <a:lnSpc>
                <a:spcPct val="100000"/>
              </a:lnSpc>
              <a:spcBef>
                <a:spcPts val="300"/>
              </a:spcBef>
              <a:spcAft>
                <a:spcPts val="0"/>
              </a:spcAft>
              <a:buSzPts val="1300"/>
              <a:buChar char="•"/>
              <a:defRPr sz="1300"/>
            </a:lvl6pPr>
            <a:lvl7pPr indent="-311150" lvl="6" marL="3200400" algn="l">
              <a:lnSpc>
                <a:spcPct val="100000"/>
              </a:lnSpc>
              <a:spcBef>
                <a:spcPts val="300"/>
              </a:spcBef>
              <a:spcAft>
                <a:spcPts val="0"/>
              </a:spcAft>
              <a:buSzPts val="1300"/>
              <a:buChar char="•"/>
              <a:defRPr sz="1300"/>
            </a:lvl7pPr>
            <a:lvl8pPr indent="-311150" lvl="7" marL="3657600" algn="l">
              <a:lnSpc>
                <a:spcPct val="100000"/>
              </a:lnSpc>
              <a:spcBef>
                <a:spcPts val="300"/>
              </a:spcBef>
              <a:spcAft>
                <a:spcPts val="0"/>
              </a:spcAft>
              <a:buSzPts val="1300"/>
              <a:buChar char="•"/>
              <a:defRPr sz="1300"/>
            </a:lvl8pPr>
            <a:lvl9pPr indent="-311150" lvl="8" marL="4114800" algn="l">
              <a:lnSpc>
                <a:spcPct val="100000"/>
              </a:lnSpc>
              <a:spcBef>
                <a:spcPts val="300"/>
              </a:spcBef>
              <a:spcAft>
                <a:spcPts val="0"/>
              </a:spcAft>
              <a:buSzPts val="1300"/>
              <a:buChar char="•"/>
              <a:defRPr sz="1300"/>
            </a:lvl9pPr>
          </a:lstStyle>
          <a:p/>
        </p:txBody>
      </p:sp>
      <p:sp>
        <p:nvSpPr>
          <p:cNvPr id="37" name="Google Shape;37;p6"/>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ngle column">
  <p:cSld name="TITLE_AND_BODY_1">
    <p:spTree>
      <p:nvGrpSpPr>
        <p:cNvPr id="38" name="Shape 38"/>
        <p:cNvGrpSpPr/>
        <p:nvPr/>
      </p:nvGrpSpPr>
      <p:grpSpPr>
        <a:xfrm>
          <a:off x="0" y="0"/>
          <a:ext cx="0" cy="0"/>
          <a:chOff x="0" y="0"/>
          <a:chExt cx="0" cy="0"/>
        </a:xfrm>
      </p:grpSpPr>
      <p:sp>
        <p:nvSpPr>
          <p:cNvPr id="39" name="Google Shape;39;p7"/>
          <p:cNvSpPr txBox="1"/>
          <p:nvPr>
            <p:ph type="title"/>
          </p:nvPr>
        </p:nvSpPr>
        <p:spPr>
          <a:xfrm>
            <a:off x="310896" y="173736"/>
            <a:ext cx="85221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7"/>
          <p:cNvSpPr txBox="1"/>
          <p:nvPr>
            <p:ph idx="1" type="body"/>
          </p:nvPr>
        </p:nvSpPr>
        <p:spPr>
          <a:xfrm>
            <a:off x="311700" y="1371600"/>
            <a:ext cx="4260300" cy="3154800"/>
          </a:xfrm>
          <a:prstGeom prst="rect">
            <a:avLst/>
          </a:prstGeom>
          <a:noFill/>
          <a:ln>
            <a:noFill/>
          </a:ln>
        </p:spPr>
        <p:txBody>
          <a:bodyPr anchorCtr="0" anchor="t" bIns="34275" lIns="68575" spcFirstLastPara="1" rIns="68575" wrap="square" tIns="34275">
            <a:normAutofit/>
          </a:bodyPr>
          <a:lstStyle>
            <a:lvl1pPr indent="-368300" lvl="0" marL="457200" algn="l">
              <a:lnSpc>
                <a:spcPct val="100000"/>
              </a:lnSpc>
              <a:spcBef>
                <a:spcPts val="500"/>
              </a:spcBef>
              <a:spcAft>
                <a:spcPts val="0"/>
              </a:spcAft>
              <a:buSzPts val="2200"/>
              <a:buChar char="•"/>
              <a:defRPr sz="2200"/>
            </a:lvl1pPr>
            <a:lvl2pPr indent="-349250" lvl="1" marL="914400" algn="l">
              <a:lnSpc>
                <a:spcPct val="100000"/>
              </a:lnSpc>
              <a:spcBef>
                <a:spcPts val="400"/>
              </a:spcBef>
              <a:spcAft>
                <a:spcPts val="0"/>
              </a:spcAft>
              <a:buSzPts val="1900"/>
              <a:buChar char="–"/>
              <a:defRPr sz="1900"/>
            </a:lvl2pPr>
            <a:lvl3pPr indent="-330200" lvl="2" marL="1371600" algn="l">
              <a:lnSpc>
                <a:spcPct val="100000"/>
              </a:lnSpc>
              <a:spcBef>
                <a:spcPts val="400"/>
              </a:spcBef>
              <a:spcAft>
                <a:spcPts val="0"/>
              </a:spcAft>
              <a:buSzPts val="1600"/>
              <a:buChar char="•"/>
              <a:defRPr sz="1600"/>
            </a:lvl3pPr>
            <a:lvl4pPr indent="-311150" lvl="3" marL="1828800" algn="l">
              <a:lnSpc>
                <a:spcPct val="100000"/>
              </a:lnSpc>
              <a:spcBef>
                <a:spcPts val="300"/>
              </a:spcBef>
              <a:spcAft>
                <a:spcPts val="0"/>
              </a:spcAft>
              <a:buSzPts val="1300"/>
              <a:buChar char="–"/>
              <a:defRPr sz="1300"/>
            </a:lvl4pPr>
            <a:lvl5pPr indent="-311150" lvl="4" marL="2286000" algn="l">
              <a:lnSpc>
                <a:spcPct val="100000"/>
              </a:lnSpc>
              <a:spcBef>
                <a:spcPts val="300"/>
              </a:spcBef>
              <a:spcAft>
                <a:spcPts val="0"/>
              </a:spcAft>
              <a:buSzPts val="1300"/>
              <a:buChar char="»"/>
              <a:defRPr sz="1300"/>
            </a:lvl5pPr>
            <a:lvl6pPr indent="-311150" lvl="5" marL="2743200" algn="l">
              <a:lnSpc>
                <a:spcPct val="100000"/>
              </a:lnSpc>
              <a:spcBef>
                <a:spcPts val="300"/>
              </a:spcBef>
              <a:spcAft>
                <a:spcPts val="0"/>
              </a:spcAft>
              <a:buSzPts val="1300"/>
              <a:buChar char="•"/>
              <a:defRPr sz="1300"/>
            </a:lvl6pPr>
            <a:lvl7pPr indent="-311150" lvl="6" marL="3200400" algn="l">
              <a:lnSpc>
                <a:spcPct val="100000"/>
              </a:lnSpc>
              <a:spcBef>
                <a:spcPts val="300"/>
              </a:spcBef>
              <a:spcAft>
                <a:spcPts val="0"/>
              </a:spcAft>
              <a:buSzPts val="1300"/>
              <a:buChar char="•"/>
              <a:defRPr sz="1300"/>
            </a:lvl7pPr>
            <a:lvl8pPr indent="-311150" lvl="7" marL="3657600" algn="l">
              <a:lnSpc>
                <a:spcPct val="100000"/>
              </a:lnSpc>
              <a:spcBef>
                <a:spcPts val="300"/>
              </a:spcBef>
              <a:spcAft>
                <a:spcPts val="0"/>
              </a:spcAft>
              <a:buSzPts val="1300"/>
              <a:buChar char="•"/>
              <a:defRPr sz="1300"/>
            </a:lvl8pPr>
            <a:lvl9pPr indent="-311150" lvl="8" marL="4114800" algn="l">
              <a:lnSpc>
                <a:spcPct val="100000"/>
              </a:lnSpc>
              <a:spcBef>
                <a:spcPts val="300"/>
              </a:spcBef>
              <a:spcAft>
                <a:spcPts val="0"/>
              </a:spcAft>
              <a:buSzPts val="1300"/>
              <a:buChar char="•"/>
              <a:defRPr sz="1300"/>
            </a:lvl9pPr>
          </a:lstStyle>
          <a:p/>
        </p:txBody>
      </p:sp>
      <p:sp>
        <p:nvSpPr>
          <p:cNvPr id="41" name="Google Shape;41;p7"/>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8"/>
          <p:cNvSpPr txBox="1"/>
          <p:nvPr>
            <p:ph type="title"/>
          </p:nvPr>
        </p:nvSpPr>
        <p:spPr>
          <a:xfrm>
            <a:off x="311700" y="173736"/>
            <a:ext cx="85206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8"/>
          <p:cNvSpPr txBox="1"/>
          <p:nvPr>
            <p:ph idx="1" type="body"/>
          </p:nvPr>
        </p:nvSpPr>
        <p:spPr>
          <a:xfrm>
            <a:off x="3117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45" name="Google Shape;45;p8"/>
          <p:cNvSpPr txBox="1"/>
          <p:nvPr>
            <p:ph idx="2" type="body"/>
          </p:nvPr>
        </p:nvSpPr>
        <p:spPr>
          <a:xfrm>
            <a:off x="48324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46" name="Google Shape;46;p8"/>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two column - html">
  <p:cSld name="TITLE_AND_TWO_COLUMNS_1">
    <p:spTree>
      <p:nvGrpSpPr>
        <p:cNvPr id="47" name="Shape 47"/>
        <p:cNvGrpSpPr/>
        <p:nvPr/>
      </p:nvGrpSpPr>
      <p:grpSpPr>
        <a:xfrm>
          <a:off x="0" y="0"/>
          <a:ext cx="0" cy="0"/>
          <a:chOff x="0" y="0"/>
          <a:chExt cx="0" cy="0"/>
        </a:xfrm>
      </p:grpSpPr>
      <p:sp>
        <p:nvSpPr>
          <p:cNvPr id="48" name="Google Shape;48;p9"/>
          <p:cNvSpPr txBox="1"/>
          <p:nvPr>
            <p:ph type="title"/>
          </p:nvPr>
        </p:nvSpPr>
        <p:spPr>
          <a:xfrm>
            <a:off x="311700" y="173736"/>
            <a:ext cx="85206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9"/>
          <p:cNvSpPr txBox="1"/>
          <p:nvPr>
            <p:ph idx="1" type="body"/>
          </p:nvPr>
        </p:nvSpPr>
        <p:spPr>
          <a:xfrm>
            <a:off x="3117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50" name="Google Shape;50;p9"/>
          <p:cNvSpPr txBox="1"/>
          <p:nvPr>
            <p:ph idx="2" type="body"/>
          </p:nvPr>
        </p:nvSpPr>
        <p:spPr>
          <a:xfrm>
            <a:off x="48324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51" name="Google Shape;51;p9"/>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9"/>
          <p:cNvSpPr txBox="1"/>
          <p:nvPr/>
        </p:nvSpPr>
        <p:spPr>
          <a:xfrm>
            <a:off x="5382900" y="4457175"/>
            <a:ext cx="3521700" cy="69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4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Code along: </a:t>
            </a:r>
            <a:r>
              <a:rPr b="0" i="0" lang="en" sz="800" u="sng" cap="none" strike="noStrike">
                <a:solidFill>
                  <a:schemeClr val="hlink"/>
                </a:solidFill>
                <a:latin typeface="Cambria"/>
                <a:ea typeface="Cambria"/>
                <a:cs typeface="Cambria"/>
                <a:sym typeface="Cambria"/>
                <a:hlinkClick r:id="rId2"/>
              </a:rPr>
              <a:t>https://www.w3schools.com/html/tryit.asp?filename=tryhtml_default</a:t>
            </a:r>
            <a:endParaRPr b="0" i="0" sz="8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000000"/>
              </a:buClr>
              <a:buSzPts val="800"/>
              <a:buFont typeface="Arial"/>
              <a:buNone/>
            </a:pPr>
            <a:r>
              <a:t/>
            </a:r>
            <a:endParaRPr b="0" i="0" sz="800" u="none" cap="none" strike="noStrike">
              <a:solidFill>
                <a:srgbClr val="000000"/>
              </a:solidFill>
              <a:latin typeface="Cambria"/>
              <a:ea typeface="Cambria"/>
              <a:cs typeface="Cambria"/>
              <a:sym typeface="Cambr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two column css">
  <p:cSld name="TITLE_AND_TWO_COLUMNS_1_1">
    <p:spTree>
      <p:nvGrpSpPr>
        <p:cNvPr id="53" name="Shape 53"/>
        <p:cNvGrpSpPr/>
        <p:nvPr/>
      </p:nvGrpSpPr>
      <p:grpSpPr>
        <a:xfrm>
          <a:off x="0" y="0"/>
          <a:ext cx="0" cy="0"/>
          <a:chOff x="0" y="0"/>
          <a:chExt cx="0" cy="0"/>
        </a:xfrm>
      </p:grpSpPr>
      <p:sp>
        <p:nvSpPr>
          <p:cNvPr id="54" name="Google Shape;54;p10"/>
          <p:cNvSpPr txBox="1"/>
          <p:nvPr>
            <p:ph type="title"/>
          </p:nvPr>
        </p:nvSpPr>
        <p:spPr>
          <a:xfrm>
            <a:off x="311700" y="173736"/>
            <a:ext cx="8520600" cy="109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5" name="Google Shape;55;p10"/>
          <p:cNvSpPr txBox="1"/>
          <p:nvPr>
            <p:ph idx="1" type="body"/>
          </p:nvPr>
        </p:nvSpPr>
        <p:spPr>
          <a:xfrm>
            <a:off x="3117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56" name="Google Shape;56;p10"/>
          <p:cNvSpPr txBox="1"/>
          <p:nvPr>
            <p:ph idx="2" type="body"/>
          </p:nvPr>
        </p:nvSpPr>
        <p:spPr>
          <a:xfrm>
            <a:off x="4832400" y="1371600"/>
            <a:ext cx="3999900" cy="31548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500"/>
              </a:spcBef>
              <a:spcAft>
                <a:spcPts val="0"/>
              </a:spcAft>
              <a:buSzPts val="1400"/>
              <a:buChar char="•"/>
              <a:defRPr sz="1400"/>
            </a:lvl1pPr>
            <a:lvl2pPr indent="-304800" lvl="1" marL="914400" algn="l">
              <a:lnSpc>
                <a:spcPct val="100000"/>
              </a:lnSpc>
              <a:spcBef>
                <a:spcPts val="400"/>
              </a:spcBef>
              <a:spcAft>
                <a:spcPts val="0"/>
              </a:spcAft>
              <a:buSzPts val="1200"/>
              <a:buChar char="–"/>
              <a:defRPr sz="1200"/>
            </a:lvl2pPr>
            <a:lvl3pPr indent="-304800" lvl="2" marL="1371600" algn="l">
              <a:lnSpc>
                <a:spcPct val="100000"/>
              </a:lnSpc>
              <a:spcBef>
                <a:spcPts val="400"/>
              </a:spcBef>
              <a:spcAft>
                <a:spcPts val="0"/>
              </a:spcAft>
              <a:buSzPts val="1200"/>
              <a:buChar char="•"/>
              <a:defRPr sz="1200"/>
            </a:lvl3pPr>
            <a:lvl4pPr indent="-304800" lvl="3" marL="1828800" algn="l">
              <a:lnSpc>
                <a:spcPct val="100000"/>
              </a:lnSpc>
              <a:spcBef>
                <a:spcPts val="3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57" name="Google Shape;57;p10"/>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0"/>
          <p:cNvSpPr txBox="1"/>
          <p:nvPr/>
        </p:nvSpPr>
        <p:spPr>
          <a:xfrm>
            <a:off x="5382900" y="4457175"/>
            <a:ext cx="3521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40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Code along: </a:t>
            </a:r>
            <a:r>
              <a:rPr b="0" i="0" lang="en" sz="800" u="sng" cap="none" strike="noStrike">
                <a:solidFill>
                  <a:schemeClr val="hlink"/>
                </a:solidFill>
                <a:latin typeface="Cambria"/>
                <a:ea typeface="Cambria"/>
                <a:cs typeface="Cambria"/>
                <a:sym typeface="Cambria"/>
                <a:hlinkClick r:id="rId2"/>
              </a:rPr>
              <a:t>https://www.w3schools.com/css/tryit.asp?filename=trycss_default</a:t>
            </a:r>
            <a:endParaRPr b="0" i="0" sz="800" u="none" cap="none" strike="noStrike">
              <a:solidFill>
                <a:srgbClr val="000000"/>
              </a:solidFill>
              <a:latin typeface="Cambria"/>
              <a:ea typeface="Cambria"/>
              <a:cs typeface="Cambria"/>
              <a:sym typeface="Cambria"/>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mbria"/>
              <a:buNone/>
              <a:defRPr b="0" i="0" sz="3300" u="none" cap="none" strike="noStrike">
                <a:solidFill>
                  <a:schemeClr val="dk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200151"/>
            <a:ext cx="8229600" cy="3394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mbria"/>
                <a:ea typeface="Cambria"/>
                <a:cs typeface="Cambria"/>
                <a:sym typeface="Cambria"/>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mbria"/>
                <a:ea typeface="Cambria"/>
                <a:cs typeface="Cambria"/>
                <a:sym typeface="Cambria"/>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mbria"/>
                <a:ea typeface="Cambria"/>
                <a:cs typeface="Cambria"/>
                <a:sym typeface="Cambria"/>
              </a:defRPr>
            </a:lvl9pPr>
          </a:lstStyle>
          <a:p/>
        </p:txBody>
      </p:sp>
      <p:sp>
        <p:nvSpPr>
          <p:cNvPr id="8" name="Google Shape;8;p1"/>
          <p:cNvSpPr txBox="1"/>
          <p:nvPr>
            <p:ph idx="10" type="dt"/>
          </p:nvPr>
        </p:nvSpPr>
        <p:spPr>
          <a:xfrm>
            <a:off x="457200" y="4767265"/>
            <a:ext cx="21336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2pPr>
            <a:lvl3pPr lvl="2"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3pPr>
            <a:lvl4pPr lvl="3"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4pPr>
            <a:lvl5pPr lvl="4"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5pPr>
            <a:lvl6pPr lvl="5"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6pPr>
            <a:lvl7pPr lvl="6"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7pPr>
            <a:lvl8pPr lvl="7"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8pPr>
            <a:lvl9pPr lvl="8"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9pPr>
          </a:lstStyle>
          <a:p/>
        </p:txBody>
      </p:sp>
      <p:sp>
        <p:nvSpPr>
          <p:cNvPr id="9" name="Google Shape;9;p1"/>
          <p:cNvSpPr txBox="1"/>
          <p:nvPr>
            <p:ph idx="11" type="ftr"/>
          </p:nvPr>
        </p:nvSpPr>
        <p:spPr>
          <a:xfrm>
            <a:off x="3124200" y="4767265"/>
            <a:ext cx="28956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2pPr>
            <a:lvl3pPr lvl="2"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3pPr>
            <a:lvl4pPr lvl="3"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4pPr>
            <a:lvl5pPr lvl="4"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5pPr>
            <a:lvl6pPr lvl="5"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6pPr>
            <a:lvl7pPr lvl="6"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7pPr>
            <a:lvl8pPr lvl="7"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8pPr>
            <a:lvl9pPr lvl="8"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Cambria"/>
                <a:ea typeface="Cambria"/>
                <a:cs typeface="Cambria"/>
                <a:sym typeface="Cambria"/>
              </a:defRPr>
            </a:lvl9pPr>
          </a:lstStyle>
          <a:p/>
        </p:txBody>
      </p:sp>
      <p:sp>
        <p:nvSpPr>
          <p:cNvPr id="10" name="Google Shape;10;p1"/>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1"/>
          <p:cNvPicPr preferRelativeResize="0"/>
          <p:nvPr/>
        </p:nvPicPr>
        <p:blipFill rotWithShape="1">
          <a:blip r:embed="rId1">
            <a:alphaModFix/>
          </a:blip>
          <a:srcRect b="0" l="0" r="0" t="0"/>
          <a:stretch/>
        </p:blipFill>
        <p:spPr>
          <a:xfrm>
            <a:off x="0" y="2286"/>
            <a:ext cx="9144000" cy="5138927"/>
          </a:xfrm>
          <a:prstGeom prst="rect">
            <a:avLst/>
          </a:prstGeom>
          <a:noFill/>
          <a:ln>
            <a:noFill/>
          </a:ln>
        </p:spPr>
      </p:pic>
      <p:pic>
        <p:nvPicPr>
          <p:cNvPr id="12" name="Google Shape;12;p1"/>
          <p:cNvPicPr preferRelativeResize="0"/>
          <p:nvPr/>
        </p:nvPicPr>
        <p:blipFill rotWithShape="1">
          <a:blip r:embed="rId1">
            <a:alphaModFix/>
          </a:blip>
          <a:srcRect b="0" l="0" r="0" t="0"/>
          <a:stretch/>
        </p:blipFill>
        <p:spPr>
          <a:xfrm>
            <a:off x="0" y="0"/>
            <a:ext cx="9152135" cy="5143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1"/>
          <p:cNvSpPr txBox="1"/>
          <p:nvPr>
            <p:ph type="ctrTitle"/>
          </p:nvPr>
        </p:nvSpPr>
        <p:spPr>
          <a:xfrm>
            <a:off x="729450" y="1322450"/>
            <a:ext cx="7688100" cy="1664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b="1" lang="en"/>
              <a:t>Analyzing NFL Offenses from 2003-2023</a:t>
            </a:r>
            <a:endParaRPr b="1"/>
          </a:p>
        </p:txBody>
      </p:sp>
      <p:sp>
        <p:nvSpPr>
          <p:cNvPr id="64" name="Google Shape;64;p11"/>
          <p:cNvSpPr txBox="1"/>
          <p:nvPr/>
        </p:nvSpPr>
        <p:spPr>
          <a:xfrm>
            <a:off x="1582650" y="3275125"/>
            <a:ext cx="5978700" cy="73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Cambria"/>
                <a:ea typeface="Cambria"/>
                <a:cs typeface="Cambria"/>
                <a:sym typeface="Cambria"/>
              </a:rPr>
              <a:t>Christopher Bussen</a:t>
            </a:r>
            <a:endParaRPr sz="240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463375" y="177625"/>
            <a:ext cx="8229600" cy="109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Data</a:t>
            </a:r>
            <a:endParaRPr/>
          </a:p>
        </p:txBody>
      </p:sp>
      <p:sp>
        <p:nvSpPr>
          <p:cNvPr id="70" name="Google Shape;70;p12"/>
          <p:cNvSpPr txBox="1"/>
          <p:nvPr>
            <p:ph idx="1" type="body"/>
          </p:nvPr>
        </p:nvSpPr>
        <p:spPr>
          <a:xfrm>
            <a:off x="191425" y="1275026"/>
            <a:ext cx="4894200" cy="3161100"/>
          </a:xfrm>
          <a:prstGeom prst="rect">
            <a:avLst/>
          </a:prstGeom>
        </p:spPr>
        <p:txBody>
          <a:bodyPr anchorCtr="0" anchor="t" bIns="34275" lIns="68575" spcFirstLastPara="1" rIns="68575" wrap="square" tIns="34275">
            <a:normAutofit/>
          </a:bodyPr>
          <a:lstStyle/>
          <a:p>
            <a:pPr indent="-342900" lvl="0" marL="457200" rtl="0" algn="l">
              <a:spcBef>
                <a:spcPts val="300"/>
              </a:spcBef>
              <a:spcAft>
                <a:spcPts val="0"/>
              </a:spcAft>
              <a:buSzPts val="1800"/>
              <a:buChar char="❖"/>
            </a:pPr>
            <a:r>
              <a:rPr lang="en" sz="1800"/>
              <a:t>Dataset from Kaggle about NFL offenses from 2003-2023</a:t>
            </a:r>
            <a:endParaRPr sz="1800"/>
          </a:p>
          <a:p>
            <a:pPr indent="-342900" lvl="0" marL="457200" rtl="0" algn="l">
              <a:spcBef>
                <a:spcPts val="0"/>
              </a:spcBef>
              <a:spcAft>
                <a:spcPts val="0"/>
              </a:spcAft>
              <a:buSzPts val="1800"/>
              <a:buChar char="❖"/>
            </a:pPr>
            <a:r>
              <a:rPr lang="en" sz="1800"/>
              <a:t>Original author used web scraper to pull from Pro Football Reference</a:t>
            </a:r>
            <a:endParaRPr sz="1800"/>
          </a:p>
          <a:p>
            <a:pPr indent="-342900" lvl="0" marL="457200" rtl="0" algn="l">
              <a:spcBef>
                <a:spcPts val="0"/>
              </a:spcBef>
              <a:spcAft>
                <a:spcPts val="0"/>
              </a:spcAft>
              <a:buSzPts val="1800"/>
              <a:buChar char="❖"/>
            </a:pPr>
            <a:r>
              <a:rPr lang="en" sz="1800"/>
              <a:t>35 variables, 672 observations with each </a:t>
            </a:r>
            <a:r>
              <a:rPr lang="en" sz="1800"/>
              <a:t>observation</a:t>
            </a:r>
            <a:r>
              <a:rPr lang="en" sz="1800"/>
              <a:t> being a team in a given season</a:t>
            </a:r>
            <a:endParaRPr sz="1800"/>
          </a:p>
          <a:p>
            <a:pPr indent="-342900" lvl="0" marL="457200" rtl="0" algn="l">
              <a:spcBef>
                <a:spcPts val="0"/>
              </a:spcBef>
              <a:spcAft>
                <a:spcPts val="0"/>
              </a:spcAft>
              <a:buSzPts val="1800"/>
              <a:buChar char="❖"/>
            </a:pPr>
            <a:r>
              <a:rPr lang="en" sz="1800"/>
              <a:t>Includes team win percentage, passing, rushing, penalties turnovers, and more</a:t>
            </a:r>
            <a:endParaRPr sz="1800"/>
          </a:p>
        </p:txBody>
      </p:sp>
      <p:pic>
        <p:nvPicPr>
          <p:cNvPr id="71" name="Google Shape;71;p12"/>
          <p:cNvPicPr preferRelativeResize="0"/>
          <p:nvPr/>
        </p:nvPicPr>
        <p:blipFill>
          <a:blip r:embed="rId3">
            <a:alphaModFix/>
          </a:blip>
          <a:stretch>
            <a:fillRect/>
          </a:stretch>
        </p:blipFill>
        <p:spPr>
          <a:xfrm>
            <a:off x="5085625" y="1577000"/>
            <a:ext cx="3753575" cy="19895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463375" y="177625"/>
            <a:ext cx="8229600" cy="109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Data Cleaning/Preprocessing</a:t>
            </a:r>
            <a:endParaRPr/>
          </a:p>
        </p:txBody>
      </p:sp>
      <p:sp>
        <p:nvSpPr>
          <p:cNvPr id="77" name="Google Shape;77;p13"/>
          <p:cNvSpPr txBox="1"/>
          <p:nvPr>
            <p:ph idx="1" type="body"/>
          </p:nvPr>
        </p:nvSpPr>
        <p:spPr>
          <a:xfrm>
            <a:off x="548640" y="1243400"/>
            <a:ext cx="8229600" cy="3351300"/>
          </a:xfrm>
          <a:prstGeom prst="rect">
            <a:avLst/>
          </a:prstGeom>
        </p:spPr>
        <p:txBody>
          <a:bodyPr anchorCtr="0" anchor="t" bIns="34275" lIns="68575" spcFirstLastPara="1" rIns="68575" wrap="square" tIns="34275">
            <a:normAutofit/>
          </a:bodyPr>
          <a:lstStyle/>
          <a:p>
            <a:pPr indent="-342900" lvl="0" marL="457200" rtl="0" algn="l">
              <a:spcBef>
                <a:spcPts val="300"/>
              </a:spcBef>
              <a:spcAft>
                <a:spcPts val="0"/>
              </a:spcAft>
              <a:buSzPts val="1800"/>
              <a:buFont typeface="Cambria"/>
              <a:buChar char="❖"/>
            </a:pPr>
            <a:r>
              <a:rPr lang="en" sz="1800"/>
              <a:t>Added location using a R script - for loop with if else statements for each team</a:t>
            </a:r>
            <a:endParaRPr sz="1800"/>
          </a:p>
          <a:p>
            <a:pPr indent="-342900" lvl="0" marL="457200" rtl="0" algn="l">
              <a:spcBef>
                <a:spcPts val="0"/>
              </a:spcBef>
              <a:spcAft>
                <a:spcPts val="0"/>
              </a:spcAft>
              <a:buSzPts val="1800"/>
              <a:buFont typeface="Cambria"/>
              <a:buChar char="❖"/>
            </a:pPr>
            <a:r>
              <a:rPr lang="en" sz="1800"/>
              <a:t>Changed all instances of Washington to Commanders (have had other names in past 20 years)</a:t>
            </a:r>
            <a:endParaRPr sz="1800"/>
          </a:p>
          <a:p>
            <a:pPr indent="-342900" lvl="0" marL="457200" rtl="0" algn="l">
              <a:spcBef>
                <a:spcPts val="0"/>
              </a:spcBef>
              <a:spcAft>
                <a:spcPts val="0"/>
              </a:spcAft>
              <a:buSzPts val="1800"/>
              <a:buFont typeface="Cambria"/>
              <a:buChar char="❖"/>
            </a:pPr>
            <a:r>
              <a:rPr lang="en" sz="1800"/>
              <a:t>Added average attendance up to 2019 by merging with part of another Kaggle dataset </a:t>
            </a:r>
            <a:endParaRPr sz="1800"/>
          </a:p>
          <a:p>
            <a:pPr indent="-342900" lvl="0" marL="457200" rtl="0" algn="l">
              <a:spcBef>
                <a:spcPts val="0"/>
              </a:spcBef>
              <a:spcAft>
                <a:spcPts val="0"/>
              </a:spcAft>
              <a:buSzPts val="1800"/>
              <a:buFont typeface="Cambria"/>
              <a:buChar char="❖"/>
            </a:pPr>
            <a:r>
              <a:rPr lang="en" sz="1800"/>
              <a:t>Used Tableau Prep to split location into city and state - Tableau didn’t like City, State format</a:t>
            </a:r>
            <a:endParaRPr sz="1800"/>
          </a:p>
          <a:p>
            <a:pPr indent="-342900" lvl="0" marL="457200" rtl="0" algn="l">
              <a:spcBef>
                <a:spcPts val="0"/>
              </a:spcBef>
              <a:spcAft>
                <a:spcPts val="0"/>
              </a:spcAft>
              <a:buSzPts val="1800"/>
              <a:buFont typeface="Cambria"/>
              <a:buChar char="❖"/>
            </a:pPr>
            <a:r>
              <a:rPr lang="en" sz="1800"/>
              <a:t>Planned to add team payroll information - information not </a:t>
            </a:r>
            <a:r>
              <a:rPr lang="en" sz="1800"/>
              <a:t>readily</a:t>
            </a:r>
            <a:r>
              <a:rPr lang="en" sz="1800"/>
              <a:t> available to </a:t>
            </a:r>
            <a:r>
              <a:rPr lang="en" sz="1800"/>
              <a:t>public</a:t>
            </a:r>
            <a:r>
              <a:rPr lang="en" sz="1800"/>
              <a:t> especially for earlier seasons so moved on without it</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463375" y="177625"/>
            <a:ext cx="8229600" cy="109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PCA/Clustering</a:t>
            </a:r>
            <a:endParaRPr/>
          </a:p>
        </p:txBody>
      </p:sp>
      <p:sp>
        <p:nvSpPr>
          <p:cNvPr id="83" name="Google Shape;83;p14"/>
          <p:cNvSpPr txBox="1"/>
          <p:nvPr>
            <p:ph idx="1" type="body"/>
          </p:nvPr>
        </p:nvSpPr>
        <p:spPr>
          <a:xfrm>
            <a:off x="548700" y="1226263"/>
            <a:ext cx="4023300" cy="3159000"/>
          </a:xfrm>
          <a:prstGeom prst="rect">
            <a:avLst/>
          </a:prstGeom>
        </p:spPr>
        <p:txBody>
          <a:bodyPr anchorCtr="0" anchor="t" bIns="34275" lIns="68575" spcFirstLastPara="1" rIns="68575" wrap="square" tIns="34275">
            <a:normAutofit lnSpcReduction="10000"/>
          </a:bodyPr>
          <a:lstStyle/>
          <a:p>
            <a:pPr indent="-342900" lvl="0" marL="457200" rtl="0" algn="l">
              <a:spcBef>
                <a:spcPts val="300"/>
              </a:spcBef>
              <a:spcAft>
                <a:spcPts val="0"/>
              </a:spcAft>
              <a:buSzPts val="1800"/>
              <a:buChar char="❖"/>
            </a:pPr>
            <a:r>
              <a:rPr lang="en" sz="1800"/>
              <a:t>Dropped MOV and Avg Attendance columns due to nulls, scaled data</a:t>
            </a:r>
            <a:endParaRPr sz="1800"/>
          </a:p>
          <a:p>
            <a:pPr indent="-342900" lvl="0" marL="457200" rtl="0" algn="l">
              <a:spcBef>
                <a:spcPts val="0"/>
              </a:spcBef>
              <a:spcAft>
                <a:spcPts val="0"/>
              </a:spcAft>
              <a:buSzPts val="1800"/>
              <a:buChar char="❖"/>
            </a:pPr>
            <a:r>
              <a:rPr lang="en" sz="1800"/>
              <a:t>Reduced to 9 PCs - captured 90% of variance</a:t>
            </a:r>
            <a:endParaRPr sz="1800"/>
          </a:p>
          <a:p>
            <a:pPr indent="-342900" lvl="0" marL="457200" rtl="0" algn="l">
              <a:spcBef>
                <a:spcPts val="0"/>
              </a:spcBef>
              <a:spcAft>
                <a:spcPts val="0"/>
              </a:spcAft>
              <a:buSzPts val="1800"/>
              <a:buChar char="❖"/>
            </a:pPr>
            <a:r>
              <a:rPr lang="en" sz="1800"/>
              <a:t>Hierarchical clustering did not separate data very well</a:t>
            </a:r>
            <a:endParaRPr sz="1800"/>
          </a:p>
          <a:p>
            <a:pPr indent="-342900" lvl="0" marL="457200" rtl="0" algn="l">
              <a:spcBef>
                <a:spcPts val="0"/>
              </a:spcBef>
              <a:spcAft>
                <a:spcPts val="0"/>
              </a:spcAft>
              <a:buSzPts val="1800"/>
              <a:buChar char="❖"/>
            </a:pPr>
            <a:r>
              <a:rPr lang="en" sz="1800"/>
              <a:t>K-means with 2 clusters did best job</a:t>
            </a:r>
            <a:endParaRPr sz="1800"/>
          </a:p>
          <a:p>
            <a:pPr indent="-342900" lvl="0" marL="457200" rtl="0" algn="l">
              <a:spcBef>
                <a:spcPts val="0"/>
              </a:spcBef>
              <a:spcAft>
                <a:spcPts val="0"/>
              </a:spcAft>
              <a:buSzPts val="1800"/>
              <a:buChar char="❖"/>
            </a:pPr>
            <a:r>
              <a:rPr lang="en" sz="1800"/>
              <a:t>PCs made up of combination of offensive stats</a:t>
            </a:r>
            <a:endParaRPr sz="1800"/>
          </a:p>
          <a:p>
            <a:pPr indent="-342900" lvl="0" marL="457200" rtl="0" algn="l">
              <a:spcBef>
                <a:spcPts val="0"/>
              </a:spcBef>
              <a:spcAft>
                <a:spcPts val="0"/>
              </a:spcAft>
              <a:buSzPts val="1800"/>
              <a:buChar char="❖"/>
            </a:pPr>
            <a:r>
              <a:rPr lang="en" sz="1800"/>
              <a:t>Clusters group offenses into above average or below average</a:t>
            </a:r>
            <a:endParaRPr sz="1800"/>
          </a:p>
        </p:txBody>
      </p:sp>
      <p:pic>
        <p:nvPicPr>
          <p:cNvPr id="84" name="Google Shape;84;p14"/>
          <p:cNvPicPr preferRelativeResize="0"/>
          <p:nvPr/>
        </p:nvPicPr>
        <p:blipFill>
          <a:blip r:embed="rId3">
            <a:alphaModFix/>
          </a:blip>
          <a:stretch>
            <a:fillRect/>
          </a:stretch>
        </p:blipFill>
        <p:spPr>
          <a:xfrm>
            <a:off x="4646725" y="1686975"/>
            <a:ext cx="1911549" cy="2237575"/>
          </a:xfrm>
          <a:prstGeom prst="rect">
            <a:avLst/>
          </a:prstGeom>
          <a:noFill/>
          <a:ln cap="flat" cmpd="sng" w="28575">
            <a:solidFill>
              <a:schemeClr val="dk2"/>
            </a:solidFill>
            <a:prstDash val="solid"/>
            <a:round/>
            <a:headEnd len="sm" w="sm" type="none"/>
            <a:tailEnd len="sm" w="sm" type="none"/>
          </a:ln>
        </p:spPr>
      </p:pic>
      <p:pic>
        <p:nvPicPr>
          <p:cNvPr id="85" name="Google Shape;85;p14"/>
          <p:cNvPicPr preferRelativeResize="0"/>
          <p:nvPr/>
        </p:nvPicPr>
        <p:blipFill>
          <a:blip r:embed="rId4">
            <a:alphaModFix/>
          </a:blip>
          <a:stretch>
            <a:fillRect/>
          </a:stretch>
        </p:blipFill>
        <p:spPr>
          <a:xfrm>
            <a:off x="6781425" y="1688724"/>
            <a:ext cx="1911550" cy="2234072"/>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txBox="1"/>
          <p:nvPr>
            <p:ph type="title"/>
          </p:nvPr>
        </p:nvSpPr>
        <p:spPr>
          <a:xfrm>
            <a:off x="463375" y="177625"/>
            <a:ext cx="8229600" cy="109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EDA/Time Series Analysis</a:t>
            </a:r>
            <a:endParaRPr/>
          </a:p>
        </p:txBody>
      </p:sp>
      <p:sp>
        <p:nvSpPr>
          <p:cNvPr id="91" name="Google Shape;91;p15"/>
          <p:cNvSpPr txBox="1"/>
          <p:nvPr>
            <p:ph idx="1" type="body"/>
          </p:nvPr>
        </p:nvSpPr>
        <p:spPr>
          <a:xfrm>
            <a:off x="548640" y="1243400"/>
            <a:ext cx="8229600" cy="3351300"/>
          </a:xfrm>
          <a:prstGeom prst="rect">
            <a:avLst/>
          </a:prstGeom>
        </p:spPr>
        <p:txBody>
          <a:bodyPr anchorCtr="0" anchor="t" bIns="34275" lIns="68575" spcFirstLastPara="1" rIns="68575" wrap="square" tIns="34275">
            <a:normAutofit/>
          </a:bodyPr>
          <a:lstStyle/>
          <a:p>
            <a:pPr indent="-368300" lvl="0" marL="457200" rtl="0" algn="l">
              <a:spcBef>
                <a:spcPts val="300"/>
              </a:spcBef>
              <a:spcAft>
                <a:spcPts val="0"/>
              </a:spcAft>
              <a:buSzPts val="2200"/>
              <a:buFont typeface="Cambria"/>
              <a:buChar char="❖"/>
            </a:pPr>
            <a:r>
              <a:rPr lang="en" sz="2200"/>
              <a:t>EDA and analysis on dataset done primarily in Tableau</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title"/>
          </p:nvPr>
        </p:nvSpPr>
        <p:spPr>
          <a:xfrm>
            <a:off x="463375" y="177625"/>
            <a:ext cx="8229600" cy="109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Thank you!</a:t>
            </a:r>
            <a:endParaRPr/>
          </a:p>
        </p:txBody>
      </p:sp>
      <p:sp>
        <p:nvSpPr>
          <p:cNvPr id="97" name="Google Shape;97;p16"/>
          <p:cNvSpPr txBox="1"/>
          <p:nvPr>
            <p:ph idx="1" type="body"/>
          </p:nvPr>
        </p:nvSpPr>
        <p:spPr>
          <a:xfrm>
            <a:off x="548640" y="1243400"/>
            <a:ext cx="8229600" cy="3351300"/>
          </a:xfrm>
          <a:prstGeom prst="rect">
            <a:avLst/>
          </a:prstGeom>
        </p:spPr>
        <p:txBody>
          <a:bodyPr anchorCtr="0" anchor="t" bIns="34275" lIns="68575" spcFirstLastPara="1" rIns="68575" wrap="square" tIns="34275">
            <a:normAutofit/>
          </a:bodyPr>
          <a:lstStyle/>
          <a:p>
            <a:pPr indent="0" lvl="0" marL="0" rtl="0" algn="l">
              <a:spcBef>
                <a:spcPts val="30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